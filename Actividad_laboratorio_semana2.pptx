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Open Sans Bold" charset="1" panose="020B0806030504020204"/>
      <p:regular r:id="rId22"/>
    </p:embeddedFont>
    <p:embeddedFont>
      <p:font typeface="Open Sans" charset="1" panose="020B060603050402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https://github.com/samimuchahermosa-maker/Actividad_laboratorio_semana2" TargetMode="External" Type="http://schemas.openxmlformats.org/officeDocument/2006/relationships/hyperlink"/><Relationship Id="rId7" Target="https://github.com/samimuchahermosa-maker/Actividad_laboratorio_semana2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9.png" Type="http://schemas.openxmlformats.org/officeDocument/2006/relationships/image"/><Relationship Id="rId4" Target="../embeddings/oleObject1.bin" Type="http://schemas.openxmlformats.org/officeDocument/2006/relationships/oleObjec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0.png" Type="http://schemas.openxmlformats.org/officeDocument/2006/relationships/image"/><Relationship Id="rId4" Target="../embeddings/oleObject2.bin" Type="http://schemas.openxmlformats.org/officeDocument/2006/relationships/oleObjec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877977" y="2594052"/>
            <a:ext cx="9112330" cy="5403486"/>
            <a:chOff x="0" y="0"/>
            <a:chExt cx="137069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70690" cy="812800"/>
            </a:xfrm>
            <a:custGeom>
              <a:avLst/>
              <a:gdLst/>
              <a:ahLst/>
              <a:cxnLst/>
              <a:rect r="r" b="b" t="t" l="l"/>
              <a:pathLst>
                <a:path h="812800" w="1370690">
                  <a:moveTo>
                    <a:pt x="19541" y="0"/>
                  </a:moveTo>
                  <a:lnTo>
                    <a:pt x="1351149" y="0"/>
                  </a:lnTo>
                  <a:cubicBezTo>
                    <a:pt x="1361941" y="0"/>
                    <a:pt x="1370690" y="8749"/>
                    <a:pt x="1370690" y="19541"/>
                  </a:cubicBezTo>
                  <a:lnTo>
                    <a:pt x="1370690" y="793259"/>
                  </a:lnTo>
                  <a:cubicBezTo>
                    <a:pt x="1370690" y="804051"/>
                    <a:pt x="1361941" y="812800"/>
                    <a:pt x="1351149" y="812800"/>
                  </a:cubicBezTo>
                  <a:lnTo>
                    <a:pt x="19541" y="812800"/>
                  </a:lnTo>
                  <a:cubicBezTo>
                    <a:pt x="8749" y="812800"/>
                    <a:pt x="0" y="804051"/>
                    <a:pt x="0" y="793259"/>
                  </a:cubicBezTo>
                  <a:lnTo>
                    <a:pt x="0" y="19541"/>
                  </a:lnTo>
                  <a:cubicBezTo>
                    <a:pt x="0" y="8749"/>
                    <a:pt x="8749" y="0"/>
                    <a:pt x="19541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119" r="0" b="-1119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6784670" y="0"/>
            <a:ext cx="1503330" cy="1503330"/>
          </a:xfrm>
          <a:custGeom>
            <a:avLst/>
            <a:gdLst/>
            <a:ahLst/>
            <a:cxnLst/>
            <a:rect r="r" b="b" t="t" l="l"/>
            <a:pathLst>
              <a:path h="1503330" w="1503330">
                <a:moveTo>
                  <a:pt x="0" y="0"/>
                </a:moveTo>
                <a:lnTo>
                  <a:pt x="1503330" y="0"/>
                </a:lnTo>
                <a:lnTo>
                  <a:pt x="1503330" y="1503330"/>
                </a:lnTo>
                <a:lnTo>
                  <a:pt x="0" y="15033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58969" y="8602877"/>
            <a:ext cx="4329031" cy="1182206"/>
          </a:xfrm>
          <a:custGeom>
            <a:avLst/>
            <a:gdLst/>
            <a:ahLst/>
            <a:cxnLst/>
            <a:rect r="r" b="b" t="t" l="l"/>
            <a:pathLst>
              <a:path h="1182206" w="4329031">
                <a:moveTo>
                  <a:pt x="0" y="0"/>
                </a:moveTo>
                <a:lnTo>
                  <a:pt x="4329031" y="0"/>
                </a:lnTo>
                <a:lnTo>
                  <a:pt x="4329031" y="1182206"/>
                </a:lnTo>
                <a:lnTo>
                  <a:pt x="0" y="11822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8317" r="-5292" b="-1085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957965" y="823037"/>
            <a:ext cx="1084274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 u="sng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  <a:hlinkClick r:id="rId6" tooltip="https://github.com/samimuchahermosa-maker/Actividad_laboratorio_semana2"/>
              </a:rPr>
              <a:t>Act</a:t>
            </a:r>
            <a:r>
              <a:rPr lang="en-US" b="true" sz="3399" u="sng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  <a:hlinkClick r:id="rId7" tooltip="https://github.com/samimuchahermosa-maker/Actividad_laboratorio_semana2"/>
              </a:rPr>
              <a:t>ividad_laboratorio_semana2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320299" y="2935956"/>
            <a:ext cx="241354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Integrantes: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1596" y="4643989"/>
            <a:ext cx="8117742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-Abigail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-Santiesteban reaño Piero Alessandro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-katty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-marfrancis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-Mucha Hermosa Sami Paolo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320299" y="3449672"/>
            <a:ext cx="241354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Grupo 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954351" y="5484205"/>
            <a:ext cx="1970839" cy="1970839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33333" t="0" r="-33333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5053139" y="2347900"/>
            <a:ext cx="2144514" cy="214451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8690331" y="6075608"/>
            <a:ext cx="3664860" cy="2198916"/>
          </a:xfrm>
          <a:custGeom>
            <a:avLst/>
            <a:gdLst/>
            <a:ahLst/>
            <a:cxnLst/>
            <a:rect r="r" b="b" t="t" l="l"/>
            <a:pathLst>
              <a:path h="2198916" w="3664860">
                <a:moveTo>
                  <a:pt x="0" y="0"/>
                </a:moveTo>
                <a:lnTo>
                  <a:pt x="3664860" y="0"/>
                </a:lnTo>
                <a:lnTo>
                  <a:pt x="3664860" y="2198916"/>
                </a:lnTo>
                <a:lnTo>
                  <a:pt x="0" y="21989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8534595" y="1897380"/>
            <a:ext cx="0" cy="649224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2719630" y="4100989"/>
            <a:ext cx="0" cy="432662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3611836" y="6324758"/>
            <a:ext cx="3710567" cy="1902855"/>
          </a:xfrm>
          <a:custGeom>
            <a:avLst/>
            <a:gdLst/>
            <a:ahLst/>
            <a:cxnLst/>
            <a:rect r="r" b="b" t="t" l="l"/>
            <a:pathLst>
              <a:path h="1902855" w="3710567">
                <a:moveTo>
                  <a:pt x="0" y="0"/>
                </a:moveTo>
                <a:lnTo>
                  <a:pt x="3710567" y="0"/>
                </a:lnTo>
                <a:lnTo>
                  <a:pt x="3710567" y="1902855"/>
                </a:lnTo>
                <a:lnTo>
                  <a:pt x="0" y="19028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745997" y="803580"/>
            <a:ext cx="12403771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Investigación sobre el MCP de AutoCAD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71060" y="3037364"/>
            <a:ext cx="4266848" cy="1422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 un protocolo abierto cliente-servidor que permite a los asistentes de IA conectarse de forma estandarizada con herramientas, bases de datos y software local.</a:t>
            </a:r>
          </a:p>
          <a:p>
            <a:pPr algn="just">
              <a:lnSpc>
                <a:spcPts val="266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781580" y="1978330"/>
            <a:ext cx="3286258" cy="662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¿Qué es?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94177" y="4974114"/>
            <a:ext cx="5545772" cy="537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¿Quién lo ha desarrollado?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23269" y="6047033"/>
            <a:ext cx="4915720" cy="81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Fue creado y lanzado por Anthropic (los creadores del modelo Claude) a finales de 2024 como un proyecto open-source.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0" y="2084375"/>
            <a:ext cx="804207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¿De qué manera lo ha desarrollado?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305082" y="2942955"/>
            <a:ext cx="7312572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Lo diseñaron como un estándar de comunicación universal usando el formato JSON-RPC 2.0. Funciona mediante dos vías principales de transporte local: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947882" y="4062889"/>
            <a:ext cx="3554231" cy="154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b="true" sz="2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stdio (I/O estándar):</a:t>
            </a:r>
          </a:p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Para comunicación directa entre procesos dentro de la misma computadora.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852980" y="4072414"/>
            <a:ext cx="5228279" cy="2252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b="true" sz="17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SSE / HTTP: Para entornos y servidores distribuidos.</a:t>
            </a:r>
          </a:p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b="true" sz="16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   </a:t>
            </a: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 arquitectura se basa en exponer Herramientas , Recursos y Prompts , logrando que cualquier IA compatible interactúe con aplicaciones de escritorio sin necesidad de desarrollar integraciones desde cero para cada una.</a:t>
            </a:r>
          </a:p>
          <a:p>
            <a:pPr algn="ctr">
              <a:lnSpc>
                <a:spcPts val="238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83324" y="4073180"/>
            <a:ext cx="3948734" cy="2691021"/>
          </a:xfrm>
          <a:custGeom>
            <a:avLst/>
            <a:gdLst/>
            <a:ahLst/>
            <a:cxnLst/>
            <a:rect r="r" b="b" t="t" l="l"/>
            <a:pathLst>
              <a:path h="2691021" w="3948734">
                <a:moveTo>
                  <a:pt x="0" y="0"/>
                </a:moveTo>
                <a:lnTo>
                  <a:pt x="3948733" y="0"/>
                </a:lnTo>
                <a:lnTo>
                  <a:pt x="3948733" y="2691021"/>
                </a:lnTo>
                <a:lnTo>
                  <a:pt x="0" y="26910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737" t="0" r="-12416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286603" y="4136804"/>
            <a:ext cx="4557818" cy="2563773"/>
          </a:xfrm>
          <a:custGeom>
            <a:avLst/>
            <a:gdLst/>
            <a:ahLst/>
            <a:cxnLst/>
            <a:rect r="r" b="b" t="t" l="l"/>
            <a:pathLst>
              <a:path h="2563773" w="4557818">
                <a:moveTo>
                  <a:pt x="0" y="0"/>
                </a:moveTo>
                <a:lnTo>
                  <a:pt x="4557818" y="0"/>
                </a:lnTo>
                <a:lnTo>
                  <a:pt x="4557818" y="2563773"/>
                </a:lnTo>
                <a:lnTo>
                  <a:pt x="0" y="25637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974105" y="4334019"/>
            <a:ext cx="4018262" cy="2678841"/>
          </a:xfrm>
          <a:custGeom>
            <a:avLst/>
            <a:gdLst/>
            <a:ahLst/>
            <a:cxnLst/>
            <a:rect r="r" b="b" t="t" l="l"/>
            <a:pathLst>
              <a:path h="2678841" w="4018262">
                <a:moveTo>
                  <a:pt x="0" y="0"/>
                </a:moveTo>
                <a:lnTo>
                  <a:pt x="4018261" y="0"/>
                </a:lnTo>
                <a:lnTo>
                  <a:pt x="4018261" y="2678841"/>
                </a:lnTo>
                <a:lnTo>
                  <a:pt x="0" y="26788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66383" y="563880"/>
            <a:ext cx="10625733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 arquitectura se basa en exponer tres primitivas principales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3692" y="2276930"/>
            <a:ext cx="4347997" cy="1417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Herramientas (Tools):</a:t>
            </a: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Funciones ejecutables invocadas por el modelo.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593789" y="2038805"/>
            <a:ext cx="4152573" cy="1893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Recursos (Resources): </a:t>
            </a: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Datos e información de solo lectura expuestos por la aplicación host.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306099" y="2038805"/>
            <a:ext cx="5354273" cy="1893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Prompts: 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Plantillas preconfiguradas para estructurar la interacción con el usuario.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51021" y="7357355"/>
            <a:ext cx="17209351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Esta estructura logra que cualquier IA compatible interactúe con aplicaciones de escritorio sin necesidad de desarrollar integraciones personalizadas (ad-hoc) para cada una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89600" y="5559674"/>
            <a:ext cx="5371132" cy="2685566"/>
          </a:xfrm>
          <a:custGeom>
            <a:avLst/>
            <a:gdLst/>
            <a:ahLst/>
            <a:cxnLst/>
            <a:rect r="r" b="b" t="t" l="l"/>
            <a:pathLst>
              <a:path h="2685566" w="5371132">
                <a:moveTo>
                  <a:pt x="0" y="0"/>
                </a:moveTo>
                <a:lnTo>
                  <a:pt x="5371132" y="0"/>
                </a:lnTo>
                <a:lnTo>
                  <a:pt x="5371132" y="2685566"/>
                </a:lnTo>
                <a:lnTo>
                  <a:pt x="0" y="26855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920681" y="5559674"/>
            <a:ext cx="4909117" cy="2755242"/>
          </a:xfrm>
          <a:custGeom>
            <a:avLst/>
            <a:gdLst/>
            <a:ahLst/>
            <a:cxnLst/>
            <a:rect r="r" b="b" t="t" l="l"/>
            <a:pathLst>
              <a:path h="2755242" w="4909117">
                <a:moveTo>
                  <a:pt x="0" y="0"/>
                </a:moveTo>
                <a:lnTo>
                  <a:pt x="4909116" y="0"/>
                </a:lnTo>
                <a:lnTo>
                  <a:pt x="4909116" y="2755242"/>
                </a:lnTo>
                <a:lnTo>
                  <a:pt x="0" y="27552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75435" y="563880"/>
            <a:ext cx="7817644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Integración de AutoCAD con IA mediante MCP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75435" y="1595241"/>
            <a:ext cx="17122270" cy="1417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Actualmente, la integración entre AutoCAD y cualquier modelo de IA (Claude, ChatGPT, DeepSeek) a través de MCP no es una solución nativa de Autodesk, sino un desarrollo de código abierto impulsado por la comunidad.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62815" y="3566998"/>
            <a:ext cx="6424702" cy="1554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Mecanismo: 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 implementa un servidor local programado en Python o AutoLISP que traduce las peticiones de la IA en instrucciones para AutoCAD mediante la API COM de Windows con bibliotecas como pywin32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26725" y="3557473"/>
            <a:ext cx="7897028" cy="1749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4"/>
              </a:lnSpc>
              <a:spcBef>
                <a:spcPct val="0"/>
              </a:spcBef>
            </a:pPr>
            <a:r>
              <a:rPr lang="en-US" b="true" sz="198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Capacidades: </a:t>
            </a:r>
          </a:p>
          <a:p>
            <a:pPr algn="ctr">
              <a:lnSpc>
                <a:spcPts val="2784"/>
              </a:lnSpc>
              <a:spcBef>
                <a:spcPct val="0"/>
              </a:spcBef>
            </a:pPr>
            <a:r>
              <a:rPr lang="en-US" sz="198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Permite a la IA leer el contexto del archivo activo .dwg (capas, entidades y coordenadas) y ejecutar órdenes en tiempo real para generar geometría 2D, colocar cotas o construir sólidos 3D mediante extrusión, revolución y barrido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162273" y="1390887"/>
            <a:ext cx="6431249" cy="6431249"/>
            <a:chOff x="0" y="0"/>
            <a:chExt cx="6348730" cy="63487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66040" y="67310"/>
              <a:ext cx="6207760" cy="6206490"/>
            </a:xfrm>
            <a:custGeom>
              <a:avLst/>
              <a:gdLst/>
              <a:ahLst/>
              <a:cxnLst/>
              <a:rect r="r" b="b" t="t" l="l"/>
              <a:pathLst>
                <a:path h="6206490" w="6207760">
                  <a:moveTo>
                    <a:pt x="6207760" y="1667510"/>
                  </a:moveTo>
                  <a:lnTo>
                    <a:pt x="6207760" y="6206490"/>
                  </a:lnTo>
                  <a:lnTo>
                    <a:pt x="1668780" y="6206490"/>
                  </a:lnTo>
                  <a:cubicBezTo>
                    <a:pt x="749300" y="6206490"/>
                    <a:pt x="0" y="5458460"/>
                    <a:pt x="0" y="4538980"/>
                  </a:cubicBezTo>
                  <a:lnTo>
                    <a:pt x="0" y="0"/>
                  </a:lnTo>
                  <a:lnTo>
                    <a:pt x="4538980" y="0"/>
                  </a:lnTo>
                  <a:cubicBezTo>
                    <a:pt x="5458460" y="0"/>
                    <a:pt x="6207760" y="748030"/>
                    <a:pt x="6207760" y="1668780"/>
                  </a:cubicBezTo>
                  <a:close/>
                </a:path>
              </a:pathLst>
            </a:custGeom>
            <a:blipFill>
              <a:blip r:embed="rId3"/>
              <a:stretch>
                <a:fillRect l="-38870" t="0" r="-3887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48730" cy="6348730"/>
            </a:xfrm>
            <a:custGeom>
              <a:avLst/>
              <a:gdLst/>
              <a:ahLst/>
              <a:cxnLst/>
              <a:rect r="r" b="b" t="t" l="l"/>
              <a:pathLst>
                <a:path h="6348730" w="6348730">
                  <a:moveTo>
                    <a:pt x="6348730" y="1765300"/>
                  </a:moveTo>
                  <a:lnTo>
                    <a:pt x="6348730" y="6348730"/>
                  </a:lnTo>
                  <a:lnTo>
                    <a:pt x="1765300" y="6348730"/>
                  </a:lnTo>
                  <a:cubicBezTo>
                    <a:pt x="792480" y="6348730"/>
                    <a:pt x="0" y="5557520"/>
                    <a:pt x="0" y="4583430"/>
                  </a:cubicBezTo>
                  <a:lnTo>
                    <a:pt x="0" y="0"/>
                  </a:lnTo>
                  <a:lnTo>
                    <a:pt x="4583430" y="0"/>
                  </a:lnTo>
                  <a:cubicBezTo>
                    <a:pt x="5556250" y="0"/>
                    <a:pt x="6348730" y="792480"/>
                    <a:pt x="6348730" y="1765300"/>
                  </a:cubicBezTo>
                  <a:close/>
                  <a:moveTo>
                    <a:pt x="6221730" y="6221730"/>
                  </a:moveTo>
                  <a:lnTo>
                    <a:pt x="6221730" y="1765300"/>
                  </a:lnTo>
                  <a:cubicBezTo>
                    <a:pt x="6221730" y="862330"/>
                    <a:pt x="5486400" y="127000"/>
                    <a:pt x="4583430" y="127000"/>
                  </a:cubicBezTo>
                  <a:lnTo>
                    <a:pt x="127000" y="127000"/>
                  </a:lnTo>
                  <a:lnTo>
                    <a:pt x="127000" y="4583430"/>
                  </a:lnTo>
                  <a:cubicBezTo>
                    <a:pt x="127000" y="5486400"/>
                    <a:pt x="862330" y="6221730"/>
                    <a:pt x="1765300" y="6221730"/>
                  </a:cubicBezTo>
                  <a:lnTo>
                    <a:pt x="6221730" y="6221730"/>
                  </a:lnTo>
                  <a:close/>
                </a:path>
              </a:pathLst>
            </a:custGeom>
            <a:solidFill>
              <a:srgbClr val="EE4C0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654787" y="388145"/>
            <a:ext cx="6159252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Anatomía de construcción utilizada: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32582" y="1733136"/>
            <a:ext cx="9561670" cy="568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Rol / Persona (Role): </a:t>
            </a: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Sitúa al modelo en el rol de un especialista en diseño mecánico y CAD paramétrico.</a:t>
            </a:r>
          </a:p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Contexto de Entrada (Context): </a:t>
            </a: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Define el software (AutoCAD 2027), las unidades (milímetros) y el objetivo geométrico (sólidos por extrusión, revolución y barrido).</a:t>
            </a:r>
          </a:p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Instrucción / Tarea (Task): </a:t>
            </a: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Verbo de acción directo y sin ambigüedades (analizar, optimizar, estructurar).</a:t>
            </a:r>
          </a:p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Restricciones y Reglas Negativas (Constraints): </a:t>
            </a: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Qué evitar (ej. "no omitas ninguna cota", "prioriza revolución sobre cilindros booleanos sueltos", "no apliques redondeos antes de las booleanas").</a:t>
            </a:r>
          </a:p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Formato de Salida (Output Format): </a:t>
            </a: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Tablas técnicas, diagramas de flujo y secuencias numeradas de comandos.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057709"/>
            <a:ext cx="18288000" cy="9429919"/>
          </a:xfrm>
          <a:custGeom>
            <a:avLst/>
            <a:gdLst/>
            <a:ahLst/>
            <a:cxnLst/>
            <a:rect r="r" b="b" t="t" l="l"/>
            <a:pathLst>
              <a:path h="9429919" w="18288000">
                <a:moveTo>
                  <a:pt x="0" y="0"/>
                </a:moveTo>
                <a:lnTo>
                  <a:pt x="18288000" y="0"/>
                </a:lnTo>
                <a:lnTo>
                  <a:pt x="18288000" y="9429920"/>
                </a:lnTo>
                <a:lnTo>
                  <a:pt x="0" y="94299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088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602563" y="1396801"/>
          <a:ext cx="11664514" cy="6466368"/>
        </p:xfrm>
        <a:graphic>
          <a:graphicData uri="http://schemas.openxmlformats.org/drawingml/2006/table">
            <a:tbl>
              <a:tblPr/>
              <a:tblGrid>
                <a:gridCol w="11664514"/>
              </a:tblGrid>
              <a:tr h="646636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 "Actúa como un Ingeniero de Prompts especialista en software de manufactura y CAD (AutoCAD, Inventor, SolidWorks).</a:t>
                      </a:r>
                      <a:endParaRPr lang="en-US" sz="1100"/>
                    </a:p>
                    <a:p>
                      <a:pPr algn="l">
                        <a:lnSpc>
                          <a:spcPts val="2520"/>
                        </a:lnSpc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 </a:t>
                      </a:r>
                    </a:p>
                    <a:p>
                      <a:pPr algn="l">
                        <a:lnSpc>
                          <a:spcPts val="2520"/>
                        </a:lnSpc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 Necesito que diseñes un prompt altamente optimizado para solicitarle a una IA la resolución de un problema de modelado 3D (específicamente operaciones de Extrusión, Revolución y Barrido con restricciones paramétricas 2D).</a:t>
                      </a:r>
                    </a:p>
                    <a:p>
                      <a:pPr algn="l">
                        <a:lnSpc>
                          <a:spcPts val="2520"/>
                        </a:lnSpc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 </a:t>
                      </a:r>
                    </a:p>
                    <a:p>
                      <a:pPr algn="l">
                        <a:lnSpc>
                          <a:spcPts val="2520"/>
                        </a:lnSpc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 El prompt que diseñes debe:</a:t>
                      </a:r>
                    </a:p>
                    <a:p>
                      <a:pPr algn="l">
                        <a:lnSpc>
                          <a:spcPts val="2520"/>
                        </a:lnSpc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 1. Definir un rol técnico riguroso.</a:t>
                      </a:r>
                    </a:p>
                    <a:p>
                      <a:pPr algn="l">
                        <a:lnSpc>
                          <a:spcPts val="2520"/>
                        </a:lnSpc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 2. Exigir la identificación de singularidades geométricas críticas (tangencias, lazos abiertos, colisiones por radio de curvatura).</a:t>
                      </a:r>
                    </a:p>
                    <a:p>
                      <a:pPr algn="l">
                        <a:lnSpc>
                          <a:spcPts val="2520"/>
                        </a:lnSpc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 3. Obligar a la IA a justificar por qué una entidad debe revolucionarse en vez de extruirse.</a:t>
                      </a:r>
                    </a:p>
                    <a:p>
                      <a:pPr algn="l">
                        <a:lnSpc>
                          <a:spcPts val="2520"/>
                        </a:lnSpc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 4. Solicitar la salida estructurada en tablas de restricciones y secuencia de comandos en formato estándar AutoCAD (guion bajo para comandos universales: _EXTRUDE, _REVOLVE, _SWEEP).</a:t>
                      </a:r>
                    </a:p>
                    <a:p>
                      <a:pPr algn="l">
                        <a:lnSpc>
                          <a:spcPts val="2520"/>
                        </a:lnSpc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 5. Estar formulado en primera persona para ser copiado y pegado directamente."</a:t>
                      </a:r>
                    </a:p>
                    <a:p>
                      <a:pPr algn="l">
                        <a:lnSpc>
                          <a:spcPts val="252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D59"/>
                    </a:solidFill>
                  </a:tcPr>
                </a:tc>
              </a:tr>
            </a:tbl>
          </a:graphicData>
        </a:graphic>
      </p:graphicFrame>
      <p:grpSp>
        <p:nvGrpSpPr>
          <p:cNvPr name="Group 4" id="4"/>
          <p:cNvGrpSpPr/>
          <p:nvPr/>
        </p:nvGrpSpPr>
        <p:grpSpPr>
          <a:xfrm rot="0">
            <a:off x="12658723" y="857081"/>
            <a:ext cx="5104516" cy="7006088"/>
            <a:chOff x="0" y="0"/>
            <a:chExt cx="4622800" cy="63449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87630" y="67310"/>
              <a:ext cx="4427220" cy="6209030"/>
            </a:xfrm>
            <a:custGeom>
              <a:avLst/>
              <a:gdLst/>
              <a:ahLst/>
              <a:cxnLst/>
              <a:rect r="r" b="b" t="t" l="l"/>
              <a:pathLst>
                <a:path h="6209030" w="4427220">
                  <a:moveTo>
                    <a:pt x="4427220" y="0"/>
                  </a:moveTo>
                  <a:lnTo>
                    <a:pt x="2518410" y="6209030"/>
                  </a:lnTo>
                  <a:lnTo>
                    <a:pt x="0" y="6209030"/>
                  </a:lnTo>
                  <a:lnTo>
                    <a:pt x="1940560" y="3810"/>
                  </a:lnTo>
                  <a:lnTo>
                    <a:pt x="4427220" y="1270"/>
                  </a:lnTo>
                  <a:close/>
                </a:path>
              </a:pathLst>
            </a:custGeom>
            <a:blipFill>
              <a:blip r:embed="rId3"/>
              <a:stretch>
                <a:fillRect l="-33649" t="0" r="-33649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24070" cy="6344920"/>
            </a:xfrm>
            <a:custGeom>
              <a:avLst/>
              <a:gdLst/>
              <a:ahLst/>
              <a:cxnLst/>
              <a:rect r="r" b="b" t="t" l="l"/>
              <a:pathLst>
                <a:path h="6344920" w="4624070">
                  <a:moveTo>
                    <a:pt x="4622800" y="0"/>
                  </a:moveTo>
                  <a:lnTo>
                    <a:pt x="2653030" y="6344920"/>
                  </a:lnTo>
                  <a:lnTo>
                    <a:pt x="0" y="6344920"/>
                  </a:lnTo>
                  <a:lnTo>
                    <a:pt x="1969770" y="0"/>
                  </a:lnTo>
                  <a:lnTo>
                    <a:pt x="4624070" y="0"/>
                  </a:lnTo>
                  <a:close/>
                  <a:moveTo>
                    <a:pt x="2560320" y="6217920"/>
                  </a:moveTo>
                  <a:lnTo>
                    <a:pt x="4451350" y="127000"/>
                  </a:lnTo>
                  <a:lnTo>
                    <a:pt x="2063750" y="127000"/>
                  </a:lnTo>
                  <a:lnTo>
                    <a:pt x="172720" y="6217920"/>
                  </a:lnTo>
                  <a:lnTo>
                    <a:pt x="2560320" y="6217920"/>
                  </a:lnTo>
                  <a:close/>
                </a:path>
              </a:pathLst>
            </a:custGeom>
            <a:solidFill>
              <a:srgbClr val="32E0F4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602563" y="558599"/>
            <a:ext cx="10774412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 Meta-Prompt (El prompt maestro para diseñar prompts CAD)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586220" y="2878197"/>
          <a:ext cx="11403024" cy="5233825"/>
        </p:xfrm>
        <a:graphic>
          <a:graphicData uri="http://schemas.openxmlformats.org/drawingml/2006/table">
            <a:tbl>
              <a:tblPr/>
              <a:tblGrid>
                <a:gridCol w="11403024"/>
              </a:tblGrid>
              <a:tr h="52338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 [ROL]: Actúa como un Diseñador Senior en AutoCAD 3D y experto en manufactura mecánica.</a:t>
                      </a:r>
                      <a:endParaRPr lang="en-US" sz="1100"/>
                    </a:p>
                    <a:p>
                      <a:pPr algn="l">
                        <a:lnSpc>
                          <a:spcPts val="2380"/>
                        </a:lnSpc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 </a:t>
                      </a:r>
                    </a:p>
                    <a:p>
                      <a:pPr algn="l">
                        <a:lnSpc>
                          <a:spcPts val="2380"/>
                        </a:lnSpc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 [TAREA]: Analiza el boceto 2D adjunto compuesto por</a:t>
                      </a:r>
                      <a:r>
                        <a:rPr lang="en-US" sz="17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 perfiles cerrados, ejes de simetría y trayectorias curvas. Determina la secuencia óptima para generar los sólidos 3D utilizando exclusivamente las operaciones de EXTRUSIÓN (_EXTRUDE), REVOLUCIÓN (_REVOLVE) y BARRIDO (_SWEEP), minimizando el número de operaciones booleanas posteriores.</a:t>
                      </a:r>
                    </a:p>
                    <a:p>
                      <a:pPr algn="l">
                        <a:lnSpc>
                          <a:spcPts val="2380"/>
                        </a:lnSpc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 </a:t>
                      </a:r>
                    </a:p>
                    <a:p>
                      <a:pPr algn="l">
                        <a:lnSpc>
                          <a:spcPts val="2380"/>
                        </a:lnSpc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 **[FORMATO DE SALIDA]:**</a:t>
                      </a:r>
                    </a:p>
                    <a:p>
                      <a:pPr algn="l">
                        <a:lnSpc>
                          <a:spcPts val="2380"/>
                        </a:lnSpc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 1. Tabla de clasificación: Entidad | Operación 3D asignada | Justificación técnica.</a:t>
                      </a:r>
                    </a:p>
                    <a:p>
                      <a:pPr algn="l">
                        <a:lnSpc>
                          <a:spcPts val="2380"/>
                        </a:lnSpc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 2. Lista de restricciones 2D obligatorias (tangencia, coincidencia, concentricidad).</a:t>
                      </a:r>
                    </a:p>
                    <a:p>
                      <a:pPr algn="l">
                        <a:lnSpc>
                          <a:spcPts val="2380"/>
                        </a:lnSpc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 3. Flujo paso a paso con los nombres exactos de los comandos de AutoCAD en español e inglés.</a:t>
                      </a:r>
                    </a:p>
                    <a:p>
                      <a:pPr algn="l">
                        <a:lnSpc>
                          <a:spcPts val="238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F72"/>
                    </a:solidFill>
                  </a:tcPr>
                </a:tc>
              </a:tr>
            </a:tbl>
          </a:graphicData>
        </a:graphic>
      </p:graphicFrame>
      <p:grpSp>
        <p:nvGrpSpPr>
          <p:cNvPr name="Group 4" id="4"/>
          <p:cNvGrpSpPr/>
          <p:nvPr/>
        </p:nvGrpSpPr>
        <p:grpSpPr>
          <a:xfrm rot="0">
            <a:off x="12691409" y="1265297"/>
            <a:ext cx="5104516" cy="7006088"/>
            <a:chOff x="0" y="0"/>
            <a:chExt cx="4622800" cy="63449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87630" y="67310"/>
              <a:ext cx="4427220" cy="6209030"/>
            </a:xfrm>
            <a:custGeom>
              <a:avLst/>
              <a:gdLst/>
              <a:ahLst/>
              <a:cxnLst/>
              <a:rect r="r" b="b" t="t" l="l"/>
              <a:pathLst>
                <a:path h="6209030" w="4427220">
                  <a:moveTo>
                    <a:pt x="4427220" y="0"/>
                  </a:moveTo>
                  <a:lnTo>
                    <a:pt x="2518410" y="6209030"/>
                  </a:lnTo>
                  <a:lnTo>
                    <a:pt x="0" y="6209030"/>
                  </a:lnTo>
                  <a:lnTo>
                    <a:pt x="1940560" y="3810"/>
                  </a:lnTo>
                  <a:lnTo>
                    <a:pt x="4427220" y="1270"/>
                  </a:lnTo>
                  <a:close/>
                </a:path>
              </a:pathLst>
            </a:custGeom>
            <a:blipFill>
              <a:blip r:embed="rId3"/>
              <a:stretch>
                <a:fillRect l="-20123" t="0" r="-20123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24070" cy="6344920"/>
            </a:xfrm>
            <a:custGeom>
              <a:avLst/>
              <a:gdLst/>
              <a:ahLst/>
              <a:cxnLst/>
              <a:rect r="r" b="b" t="t" l="l"/>
              <a:pathLst>
                <a:path h="6344920" w="4624070">
                  <a:moveTo>
                    <a:pt x="4622800" y="0"/>
                  </a:moveTo>
                  <a:lnTo>
                    <a:pt x="2653030" y="6344920"/>
                  </a:lnTo>
                  <a:lnTo>
                    <a:pt x="0" y="6344920"/>
                  </a:lnTo>
                  <a:lnTo>
                    <a:pt x="1969770" y="0"/>
                  </a:lnTo>
                  <a:lnTo>
                    <a:pt x="4624070" y="0"/>
                  </a:lnTo>
                  <a:close/>
                  <a:moveTo>
                    <a:pt x="2560320" y="6217920"/>
                  </a:moveTo>
                  <a:lnTo>
                    <a:pt x="4451350" y="127000"/>
                  </a:lnTo>
                  <a:lnTo>
                    <a:pt x="2063750" y="127000"/>
                  </a:lnTo>
                  <a:lnTo>
                    <a:pt x="172720" y="6217920"/>
                  </a:lnTo>
                  <a:lnTo>
                    <a:pt x="2560320" y="6217920"/>
                  </a:lnTo>
                  <a:close/>
                </a:path>
              </a:pathLst>
            </a:custGeom>
            <a:solidFill>
              <a:srgbClr val="FFBD59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2290191" y="392261"/>
            <a:ext cx="7497217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</a:t>
            </a:r>
            <a:r>
              <a:rPr lang="en-US" b="true" sz="27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anco de Prompts con Distintas Estructuras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6590" y="1217672"/>
            <a:ext cx="11062283" cy="166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Estructura A: Framework RTF (Rol - Tarea - Formato)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Objetivo: </a:t>
            </a: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Obtener una secuencia rápida, estandarizada y directa para modelar el sólido sin explicaciones teóricas redundantes.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419003" y="2829168"/>
          <a:ext cx="11909662" cy="5596669"/>
        </p:xfrm>
        <a:graphic>
          <a:graphicData uri="http://schemas.openxmlformats.org/drawingml/2006/table">
            <a:tbl>
              <a:tblPr/>
              <a:tblGrid>
                <a:gridCol w="11909662"/>
              </a:tblGrid>
              <a:tr h="559666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 **Capacidad y Rol:** Tienes la capacidad de un Ingeniero Mecánico especialista en modelado de sólidos paramétricos y análisis geométrico en AutoCAD.</a:t>
                      </a:r>
                      <a:endParaRPr lang="en-US" sz="1100"/>
                    </a:p>
                    <a:p>
                      <a:pPr algn="l">
                        <a:lnSpc>
                          <a:spcPts val="2380"/>
                        </a:lnSpc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 </a:t>
                      </a:r>
                    </a:p>
                    <a:p>
                      <a:pPr algn="l">
                        <a:lnSpc>
                          <a:spcPts val="2380"/>
                        </a:lnSpc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 **Insight (Contexto):** Estoy desarrollando un ensamble en AutoCAD compuesto por</a:t>
                      </a:r>
                      <a:r>
                        <a:rPr lang="en-US" sz="17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 una leva plana, un brazo seguidor oscilante con múltiples arcos enlazados, pasadores cilíndricos escalonados y un alambre conformado en espiras curvas continuas.</a:t>
                      </a:r>
                    </a:p>
                    <a:p>
                      <a:pPr algn="l">
                        <a:lnSpc>
                          <a:spcPts val="2380"/>
                        </a:lnSpc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 </a:t>
                      </a:r>
                    </a:p>
                    <a:p>
                      <a:pPr algn="l">
                        <a:lnSpc>
                          <a:spcPts val="2380"/>
                        </a:lnSpc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 **Declaración (Instrucción):** Analiza las posibles fallas topológicas del modelo 2D antes de pasar a 3D. Dime con exactitud qué radios mínimos de curvatura deben respetarse en la trayectoria de barrido para no provocar el colapso del comando _SWEEP, y qué arcos requieren restricción de tangencia estricta para que la extrusión no genere aristas no-múltiples (non-manifold).</a:t>
                      </a:r>
                    </a:p>
                    <a:p>
                      <a:pPr algn="l">
                        <a:lnSpc>
                          <a:spcPts val="2380"/>
                        </a:lnSpc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 </a:t>
                      </a:r>
                    </a:p>
                    <a:p>
                      <a:pPr algn="l">
                        <a:lnSpc>
                          <a:spcPts val="2380"/>
                        </a:lnSpc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 **Personalidad:** Analítica, crítica y orientada a las normas de dibujo técnico industrial (ISO/ASME).</a:t>
                      </a:r>
                    </a:p>
                    <a:p>
                      <a:pPr algn="l">
                        <a:lnSpc>
                          <a:spcPts val="2380"/>
                        </a:lnSpc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 </a:t>
                      </a:r>
                    </a:p>
                    <a:p>
                      <a:pPr algn="l">
                        <a:lnSpc>
                          <a:spcPts val="2380"/>
                        </a:lnSpc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 **Experimento (Salida requerida):** Entrega una matriz de diagnóstico de errores potenciales, indicando: Causa geométrica en el boceto 2D | Error arrojado por AutoCAD | Solución preventiva en el árbol de operaciones.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C0DF"/>
                    </a:solidFill>
                  </a:tcPr>
                </a:tc>
              </a:tr>
            </a:tbl>
          </a:graphicData>
        </a:graphic>
      </p:graphicFrame>
      <p:grpSp>
        <p:nvGrpSpPr>
          <p:cNvPr name="Group 4" id="4"/>
          <p:cNvGrpSpPr/>
          <p:nvPr/>
        </p:nvGrpSpPr>
        <p:grpSpPr>
          <a:xfrm rot="0">
            <a:off x="12854841" y="1419748"/>
            <a:ext cx="5104516" cy="7006088"/>
            <a:chOff x="0" y="0"/>
            <a:chExt cx="4622800" cy="63449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87630" y="67310"/>
              <a:ext cx="4427220" cy="6209030"/>
            </a:xfrm>
            <a:custGeom>
              <a:avLst/>
              <a:gdLst/>
              <a:ahLst/>
              <a:cxnLst/>
              <a:rect r="r" b="b" t="t" l="l"/>
              <a:pathLst>
                <a:path h="6209030" w="4427220">
                  <a:moveTo>
                    <a:pt x="4427220" y="0"/>
                  </a:moveTo>
                  <a:lnTo>
                    <a:pt x="2518410" y="6209030"/>
                  </a:lnTo>
                  <a:lnTo>
                    <a:pt x="0" y="6209030"/>
                  </a:lnTo>
                  <a:lnTo>
                    <a:pt x="1940560" y="3810"/>
                  </a:lnTo>
                  <a:lnTo>
                    <a:pt x="4427220" y="1270"/>
                  </a:lnTo>
                  <a:close/>
                </a:path>
              </a:pathLst>
            </a:custGeom>
            <a:blipFill>
              <a:blip r:embed="rId3"/>
              <a:stretch>
                <a:fillRect l="-55088" t="0" r="-55088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24070" cy="6344920"/>
            </a:xfrm>
            <a:custGeom>
              <a:avLst/>
              <a:gdLst/>
              <a:ahLst/>
              <a:cxnLst/>
              <a:rect r="r" b="b" t="t" l="l"/>
              <a:pathLst>
                <a:path h="6344920" w="4624070">
                  <a:moveTo>
                    <a:pt x="4622800" y="0"/>
                  </a:moveTo>
                  <a:lnTo>
                    <a:pt x="2653030" y="6344920"/>
                  </a:lnTo>
                  <a:lnTo>
                    <a:pt x="0" y="6344920"/>
                  </a:lnTo>
                  <a:lnTo>
                    <a:pt x="1969770" y="0"/>
                  </a:lnTo>
                  <a:lnTo>
                    <a:pt x="4624070" y="0"/>
                  </a:lnTo>
                  <a:close/>
                  <a:moveTo>
                    <a:pt x="2560320" y="6217920"/>
                  </a:moveTo>
                  <a:lnTo>
                    <a:pt x="4451350" y="127000"/>
                  </a:lnTo>
                  <a:lnTo>
                    <a:pt x="2063750" y="127000"/>
                  </a:lnTo>
                  <a:lnTo>
                    <a:pt x="172720" y="6217920"/>
                  </a:lnTo>
                  <a:lnTo>
                    <a:pt x="2560320" y="6217920"/>
                  </a:lnTo>
                  <a:close/>
                </a:path>
              </a:pathLst>
            </a:custGeom>
            <a:solidFill>
              <a:srgbClr val="BBC4CD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2290191" y="392261"/>
            <a:ext cx="7497217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</a:t>
            </a:r>
            <a:r>
              <a:rPr lang="en-US" b="true" sz="27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anco de Prompts con Distintas Estructuras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86220" y="1096452"/>
            <a:ext cx="11062283" cy="1903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Estructura B: </a:t>
            </a: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Framework CRISPE (Capacidad - Rol - Insight - Declaración - Personalidad - Experimento)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Objetivo: </a:t>
            </a: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Resolver problemas complejos de tangencias, curvaturas y prevenir errores de auto-intersección (Self-intersection).</a:t>
            </a:r>
          </a:p>
          <a:p>
            <a:pPr algn="just">
              <a:lnSpc>
                <a:spcPts val="35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271914" y="2507229"/>
          <a:ext cx="12239720" cy="5829300"/>
        </p:xfrm>
        <a:graphic>
          <a:graphicData uri="http://schemas.openxmlformats.org/drawingml/2006/table">
            <a:tbl>
              <a:tblPr/>
              <a:tblGrid>
                <a:gridCol w="12239720"/>
              </a:tblGrid>
              <a:tr h="58293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 "Eres un instructor certificado de Autodesk AutoCAD.</a:t>
                      </a:r>
                      <a:endParaRPr lang="en-US" sz="1100"/>
                    </a:p>
                    <a:p>
                      <a:pPr algn="l">
                        <a:lnSpc>
                          <a:spcPts val="2380"/>
                        </a:lnSpc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 </a:t>
                      </a:r>
                    </a:p>
                    <a:p>
                      <a:pPr algn="l">
                        <a:lnSpc>
                          <a:spcPts val="2380"/>
                        </a:lnSpc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 Quiero que analices el siguiente problema de modelado 3D razonando paso a paso:</a:t>
                      </a:r>
                    </a:p>
                    <a:p>
                      <a:pPr algn="l">
                        <a:lnSpc>
                          <a:spcPts val="2380"/>
                        </a:lnSpc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 </a:t>
                      </a:r>
                    </a:p>
                    <a:p>
                      <a:pPr algn="l">
                        <a:lnSpc>
                          <a:spcPts val="2380"/>
                        </a:lnSpc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 Tenemos tres grupos de geometrías en un boceto 2D:</a:t>
                      </a:r>
                    </a:p>
                    <a:p>
                      <a:pPr algn="l">
                        <a:lnSpc>
                          <a:spcPts val="2380"/>
                        </a:lnSpc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 - Grupo</a:t>
                      </a:r>
                      <a:r>
                        <a:rPr lang="en-US" sz="17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 1: Perfiles laminares cerrados con curvas de radios R15, R60, R130 y taladros pasantes.</a:t>
                      </a:r>
                    </a:p>
                    <a:p>
                      <a:pPr algn="l">
                        <a:lnSpc>
                          <a:spcPts val="2380"/>
                        </a:lnSpc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 - Grupo 2: Ejes escalonados concéntricos de diámetros D6 y D15.</a:t>
                      </a:r>
                    </a:p>
                    <a:p>
                      <a:pPr algn="l">
                        <a:lnSpc>
                          <a:spcPts val="2380"/>
                        </a:lnSpc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 - Grupo 3: Una directriz 2D continua de 28 mm de largo máximo con curvas en U y una sección circular de diámetro 0.8 mm.</a:t>
                      </a:r>
                    </a:p>
                    <a:p>
                      <a:pPr algn="l">
                        <a:lnSpc>
                          <a:spcPts val="2380"/>
                        </a:lnSpc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 </a:t>
                      </a:r>
                    </a:p>
                    <a:p>
                      <a:pPr algn="l">
                        <a:lnSpc>
                          <a:spcPts val="2380"/>
                        </a:lnSpc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 Por favor, sigue este razonamiento en orden:</a:t>
                      </a:r>
                    </a:p>
                    <a:p>
                      <a:pPr algn="l">
                        <a:lnSpc>
                          <a:spcPts val="2380"/>
                        </a:lnSpc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 Paso 1: Evalúa la topología del Grupo 1 y deduce por qué una polilínea abierta fallaría al extruir. Explica la solución con REGION o BOUNDARY.</a:t>
                      </a:r>
                    </a:p>
                    <a:p>
                      <a:pPr algn="l">
                        <a:lnSpc>
                          <a:spcPts val="2380"/>
                        </a:lnSpc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 Paso 2: Compara dos métodos para el Grupo 2: (A) Cilindros extruidos y unidos por _UNION, frente a (B) Semiperfil revolucionado por _REVOLVE 360°. Deduce cuál genera menos errores de caras solapadas.</a:t>
                      </a:r>
                    </a:p>
                    <a:p>
                      <a:pPr algn="l">
                        <a:lnSpc>
                          <a:spcPts val="2380"/>
                        </a:lnSpc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 Paso 3: Analiza el Grupo 3 y verifica la condición de no auto-intersección para el barrido (_SWEEP).</a:t>
                      </a:r>
                    </a:p>
                    <a:p>
                      <a:pPr algn="l">
                        <a:lnSpc>
                          <a:spcPts val="2380"/>
                        </a:lnSpc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 Paso 4: A partir de los pasos anteriores, sintetiza el árbol de operaciones definitivo desde el boceto hasta el sólido final."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</a:tr>
            </a:tbl>
          </a:graphicData>
        </a:graphic>
      </p:graphicFrame>
      <p:grpSp>
        <p:nvGrpSpPr>
          <p:cNvPr name="Group 4" id="4"/>
          <p:cNvGrpSpPr/>
          <p:nvPr/>
        </p:nvGrpSpPr>
        <p:grpSpPr>
          <a:xfrm rot="0">
            <a:off x="12969243" y="1477529"/>
            <a:ext cx="5104516" cy="7006088"/>
            <a:chOff x="0" y="0"/>
            <a:chExt cx="4622800" cy="6344920"/>
          </a:xfrm>
        </p:grpSpPr>
        <p:sp>
          <p:nvSpPr>
            <p:cNvPr name="Freeform 5" id="5"/>
            <p:cNvSpPr/>
            <p:nvPr/>
          </p:nvSpPr>
          <p:spPr>
            <a:xfrm flipH="false" flipV="false" rot="36000">
              <a:off x="120261" y="44300"/>
              <a:ext cx="4361971" cy="6255050"/>
            </a:xfrm>
            <a:custGeom>
              <a:avLst/>
              <a:gdLst/>
              <a:ahLst/>
              <a:cxnLst/>
              <a:rect r="r" b="b" t="t" l="l"/>
              <a:pathLst>
                <a:path h="6255050" w="4361971">
                  <a:moveTo>
                    <a:pt x="4361958" y="0"/>
                  </a:moveTo>
                  <a:lnTo>
                    <a:pt x="2518272" y="6228678"/>
                  </a:lnTo>
                  <a:lnTo>
                    <a:pt x="0" y="6255050"/>
                  </a:lnTo>
                  <a:lnTo>
                    <a:pt x="1875474" y="29849"/>
                  </a:lnTo>
                  <a:lnTo>
                    <a:pt x="4361971" y="1270"/>
                  </a:lnTo>
                  <a:close/>
                </a:path>
              </a:pathLst>
            </a:custGeom>
            <a:blipFill>
              <a:blip r:embed="rId3"/>
              <a:stretch>
                <a:fillRect l="-12328" t="-1229" r="-1423" b="-306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24070" cy="6344920"/>
            </a:xfrm>
            <a:custGeom>
              <a:avLst/>
              <a:gdLst/>
              <a:ahLst/>
              <a:cxnLst/>
              <a:rect r="r" b="b" t="t" l="l"/>
              <a:pathLst>
                <a:path h="6344920" w="4624070">
                  <a:moveTo>
                    <a:pt x="4622800" y="0"/>
                  </a:moveTo>
                  <a:lnTo>
                    <a:pt x="2653030" y="6344920"/>
                  </a:lnTo>
                  <a:lnTo>
                    <a:pt x="0" y="6344920"/>
                  </a:lnTo>
                  <a:lnTo>
                    <a:pt x="1969770" y="0"/>
                  </a:lnTo>
                  <a:lnTo>
                    <a:pt x="4624070" y="0"/>
                  </a:lnTo>
                  <a:close/>
                  <a:moveTo>
                    <a:pt x="2560320" y="6217920"/>
                  </a:moveTo>
                  <a:lnTo>
                    <a:pt x="4451350" y="127000"/>
                  </a:lnTo>
                  <a:lnTo>
                    <a:pt x="2063750" y="127000"/>
                  </a:lnTo>
                  <a:lnTo>
                    <a:pt x="172720" y="6217920"/>
                  </a:lnTo>
                  <a:lnTo>
                    <a:pt x="2560320" y="6217920"/>
                  </a:lnTo>
                  <a:close/>
                </a:path>
              </a:pathLst>
            </a:custGeom>
            <a:solidFill>
              <a:srgbClr val="0CC0DF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2290191" y="392261"/>
            <a:ext cx="7497217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</a:t>
            </a:r>
            <a:r>
              <a:rPr lang="en-US" b="true" sz="27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anco de Prompts con Distintas Estructuras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86220" y="1096452"/>
            <a:ext cx="11062283" cy="1532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Estructura C: </a:t>
            </a: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Cadena de Pensamiento (Chain-of-Thought / Paso a Paso)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Objetivo: </a:t>
            </a: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Obligar a la IA a "pensar en voz alta" y deducir la lógica geométrica antes de dar las conclusiones. Ideal para evaluar la solidez del razonamiento espacial.</a:t>
            </a:r>
          </a:p>
          <a:p>
            <a:pPr algn="just">
              <a:lnSpc>
                <a:spcPts val="35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586220" y="2356902"/>
          <a:ext cx="11386681" cy="6038850"/>
        </p:xfrm>
        <a:graphic>
          <a:graphicData uri="http://schemas.openxmlformats.org/drawingml/2006/table">
            <a:tbl>
              <a:tblPr/>
              <a:tblGrid>
                <a:gridCol w="11386681"/>
              </a:tblGrid>
              <a:tr h="6038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 "Actúa como un programador de scripts de automatización CAD (AutoLISP / Python COM para AutoCAD).</a:t>
                      </a:r>
                      <a:endParaRPr lang="en-US" sz="1100"/>
                    </a:p>
                    <a:p>
                      <a:pPr algn="l">
                        <a:lnSpc>
                          <a:spcPts val="2240"/>
                        </a:lnSpc>
                      </a:pPr>
                      <a:r>
                        <a:rPr lang="en-US" sz="16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 </a:t>
                      </a:r>
                    </a:p>
                    <a:p>
                      <a:pPr algn="l">
                        <a:lnSpc>
                          <a:spcPts val="2240"/>
                        </a:lnSpc>
                      </a:pPr>
                      <a:r>
                        <a:rPr lang="en-US" sz="16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 Te proporcionaré una descripción geométrica y tú debes generar el bloque de comandos en AutoLISP con</a:t>
                      </a:r>
                      <a:r>
                        <a:rPr lang="en-US" sz="16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 sintaxis universal protegida (con guion bajo para compatibilidad idiomática).</a:t>
                      </a:r>
                    </a:p>
                    <a:p>
                      <a:pPr algn="l">
                        <a:lnSpc>
                          <a:spcPts val="2240"/>
                        </a:lnSpc>
                      </a:pPr>
                      <a:r>
                        <a:rPr lang="en-US" sz="16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 </a:t>
                      </a:r>
                    </a:p>
                    <a:p>
                      <a:pPr algn="l">
                        <a:lnSpc>
                          <a:spcPts val="2240"/>
                        </a:lnSpc>
                      </a:pPr>
                      <a:r>
                        <a:rPr lang="en-US" sz="16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 ### Ejemplo de Entrada:</a:t>
                      </a:r>
                    </a:p>
                    <a:p>
                      <a:pPr algn="l">
                        <a:lnSpc>
                          <a:spcPts val="2240"/>
                        </a:lnSpc>
                      </a:pPr>
                      <a:r>
                        <a:rPr lang="en-US" sz="16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 Entidad: Cilindro base en (500,50,0), radio 35, altura 110. Capa: 06_CILINDRO.</a:t>
                      </a:r>
                    </a:p>
                    <a:p>
                      <a:pPr algn="l">
                        <a:lnSpc>
                          <a:spcPts val="2240"/>
                        </a:lnSpc>
                      </a:pPr>
                      <a:r>
                        <a:rPr lang="en-US" sz="16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 </a:t>
                      </a:r>
                    </a:p>
                    <a:p>
                      <a:pPr algn="l">
                        <a:lnSpc>
                          <a:spcPts val="2240"/>
                        </a:lnSpc>
                      </a:pPr>
                      <a:r>
                        <a:rPr lang="en-US" sz="16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 ### Ejemplo de Salida:</a:t>
                      </a:r>
                    </a:p>
                    <a:p>
                      <a:pPr algn="l">
                        <a:lnSpc>
                          <a:spcPts val="2240"/>
                        </a:lnSpc>
                      </a:pPr>
                      <a:r>
                        <a:rPr lang="en-US" sz="16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 ```lisp</a:t>
                      </a:r>
                    </a:p>
                    <a:p>
                      <a:pPr algn="l">
                        <a:lnSpc>
                          <a:spcPts val="2240"/>
                        </a:lnSpc>
                      </a:pPr>
                      <a:r>
                        <a:rPr lang="en-US" sz="16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 (command "_.layer" "_M" "06_CILINDRO" "_C" "6" "" "")</a:t>
                      </a:r>
                    </a:p>
                    <a:p>
                      <a:pPr algn="l">
                        <a:lnSpc>
                          <a:spcPts val="2240"/>
                        </a:lnSpc>
                      </a:pPr>
                      <a:r>
                        <a:rPr lang="en-US" sz="16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 (command "_.cylinder" '(500 50 0) 35.0 110.0)</a:t>
                      </a:r>
                    </a:p>
                    <a:p>
                      <a:pPr algn="l">
                        <a:lnSpc>
                          <a:spcPts val="2240"/>
                        </a:lnSpc>
                      </a:pPr>
                      <a:r>
                        <a:rPr lang="en-US" sz="16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 ```</a:t>
                      </a:r>
                    </a:p>
                    <a:p>
                      <a:pPr algn="l">
                        <a:lnSpc>
                          <a:spcPts val="2240"/>
                        </a:lnSpc>
                      </a:pPr>
                      <a:r>
                        <a:rPr lang="en-US" sz="16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</a:t>
                      </a:r>
                    </a:p>
                    <a:p>
                      <a:pPr algn="l">
                        <a:lnSpc>
                          <a:spcPts val="2240"/>
                        </a:lnSpc>
                      </a:pPr>
                      <a:r>
                        <a:rPr lang="en-US" sz="16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 ### Tu turno:</a:t>
                      </a:r>
                    </a:p>
                    <a:p>
                      <a:pPr algn="l">
                        <a:lnSpc>
                          <a:spcPts val="2240"/>
                        </a:lnSpc>
                      </a:pPr>
                      <a:r>
                        <a:rPr lang="en-US" sz="16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 Genera el código para:</a:t>
                      </a:r>
                    </a:p>
                    <a:p>
                      <a:pPr algn="l">
                        <a:lnSpc>
                          <a:spcPts val="2240"/>
                        </a:lnSpc>
                      </a:pPr>
                      <a:r>
                        <a:rPr lang="en-US" sz="16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 1. Un prisma pentagonal regular inscrito con centro en (0,0,0), radio circunscrito de 68.052 mm y extrusión de 60 mm en la capa 01_PRISMA.</a:t>
                      </a:r>
                    </a:p>
                    <a:p>
                      <a:pPr algn="l">
                        <a:lnSpc>
                          <a:spcPts val="2240"/>
                        </a:lnSpc>
                      </a:pPr>
                      <a:r>
                        <a:rPr lang="en-US" sz="16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 2. Un semiperfil rectangular de pasador girado 360 grados sobre el eje Y en la capa 02_PASADOR.</a:t>
                      </a:r>
                    </a:p>
                    <a:p>
                      <a:pPr algn="l">
                        <a:lnSpc>
                          <a:spcPts val="2240"/>
                        </a:lnSpc>
                      </a:pPr>
                      <a:r>
                        <a:rPr lang="en-US" sz="16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 3. Un barrido de un círculo de radio 0.4 mm sobre una polilínea 'clip_path' en la capa 03_BARRIDO."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D55"/>
                    </a:solidFill>
                  </a:tcPr>
                </a:tc>
              </a:tr>
            </a:tbl>
          </a:graphicData>
        </a:graphic>
      </p:graphicFrame>
      <p:grpSp>
        <p:nvGrpSpPr>
          <p:cNvPr name="Group 4" id="4"/>
          <p:cNvGrpSpPr/>
          <p:nvPr/>
        </p:nvGrpSpPr>
        <p:grpSpPr>
          <a:xfrm rot="0">
            <a:off x="12446262" y="1389663"/>
            <a:ext cx="5104516" cy="7006088"/>
            <a:chOff x="0" y="0"/>
            <a:chExt cx="4622800" cy="63449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87630" y="67310"/>
              <a:ext cx="4427220" cy="6209030"/>
            </a:xfrm>
            <a:custGeom>
              <a:avLst/>
              <a:gdLst/>
              <a:ahLst/>
              <a:cxnLst/>
              <a:rect r="r" b="b" t="t" l="l"/>
              <a:pathLst>
                <a:path h="6209030" w="4427220">
                  <a:moveTo>
                    <a:pt x="4427220" y="0"/>
                  </a:moveTo>
                  <a:lnTo>
                    <a:pt x="2518410" y="6209030"/>
                  </a:lnTo>
                  <a:lnTo>
                    <a:pt x="0" y="6209030"/>
                  </a:lnTo>
                  <a:lnTo>
                    <a:pt x="1940560" y="3810"/>
                  </a:lnTo>
                  <a:lnTo>
                    <a:pt x="4427220" y="1270"/>
                  </a:lnTo>
                  <a:close/>
                </a:path>
              </a:pathLst>
            </a:custGeom>
            <a:blipFill>
              <a:blip r:embed="rId3"/>
              <a:stretch>
                <a:fillRect l="-55088" t="0" r="-55088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24070" cy="6344920"/>
            </a:xfrm>
            <a:custGeom>
              <a:avLst/>
              <a:gdLst/>
              <a:ahLst/>
              <a:cxnLst/>
              <a:rect r="r" b="b" t="t" l="l"/>
              <a:pathLst>
                <a:path h="6344920" w="4624070">
                  <a:moveTo>
                    <a:pt x="4622800" y="0"/>
                  </a:moveTo>
                  <a:lnTo>
                    <a:pt x="2653030" y="6344920"/>
                  </a:lnTo>
                  <a:lnTo>
                    <a:pt x="0" y="6344920"/>
                  </a:lnTo>
                  <a:lnTo>
                    <a:pt x="1969770" y="0"/>
                  </a:lnTo>
                  <a:lnTo>
                    <a:pt x="4624070" y="0"/>
                  </a:lnTo>
                  <a:close/>
                  <a:moveTo>
                    <a:pt x="2560320" y="6217920"/>
                  </a:moveTo>
                  <a:lnTo>
                    <a:pt x="4451350" y="127000"/>
                  </a:lnTo>
                  <a:lnTo>
                    <a:pt x="2063750" y="127000"/>
                  </a:lnTo>
                  <a:lnTo>
                    <a:pt x="172720" y="6217920"/>
                  </a:lnTo>
                  <a:lnTo>
                    <a:pt x="2560320" y="6217920"/>
                  </a:lnTo>
                  <a:close/>
                </a:path>
              </a:pathLst>
            </a:custGeom>
            <a:solidFill>
              <a:srgbClr val="EE4C06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2290191" y="392261"/>
            <a:ext cx="7497217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</a:t>
            </a:r>
            <a:r>
              <a:rPr lang="en-US" b="true" sz="27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anco de Prompts con Distintas Estructuras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86220" y="1096452"/>
            <a:ext cx="11062283" cy="1532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Estructura D: </a:t>
            </a: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Framework Few-Shot (Entrada - Salida con Ejemplos Guiados)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Objetivo: </a:t>
            </a: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Obtener la programación o secuencia de comandos en AutoLISP / Script (.scr) lista para ser consumida por el servidor MCP o la consola de AutoCAD.</a:t>
            </a:r>
          </a:p>
          <a:p>
            <a:pPr algn="just">
              <a:lnSpc>
                <a:spcPts val="35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586220" y="2356902"/>
          <a:ext cx="11386681" cy="6030853"/>
        </p:xfrm>
        <a:graphic>
          <a:graphicData uri="http://schemas.openxmlformats.org/drawingml/2006/table">
            <a:tbl>
              <a:tblPr/>
              <a:tblGrid>
                <a:gridCol w="11386681"/>
              </a:tblGrid>
              <a:tr h="603085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 **[CONTEXTO]:**</a:t>
                      </a:r>
                      <a:endParaRPr lang="en-US" sz="1100"/>
                    </a:p>
                    <a:p>
                      <a:pPr algn="l">
                        <a:lnSpc>
                          <a:spcPts val="2240"/>
                        </a:lnSpc>
                      </a:pPr>
                      <a:r>
                        <a:rPr lang="en-US" sz="16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 Estoy finalizando un proyecto académico de modelado 3D en AutoCAD donde se combinan piezas generadas por extrusión de placas, revolución de ejes y barrido de perfiles continuos.</a:t>
                      </a:r>
                    </a:p>
                    <a:p>
                      <a:pPr algn="l">
                        <a:lnSpc>
                          <a:spcPts val="2240"/>
                        </a:lnSpc>
                      </a:pPr>
                      <a:r>
                        <a:rPr lang="en-US" sz="16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 </a:t>
                      </a:r>
                    </a:p>
                    <a:p>
                      <a:pPr algn="l">
                        <a:lnSpc>
                          <a:spcPts val="2240"/>
                        </a:lnSpc>
                      </a:pPr>
                      <a:r>
                        <a:rPr lang="en-US" sz="16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 **[ACCIÓN]:**</a:t>
                      </a:r>
                    </a:p>
                    <a:p>
                      <a:pPr algn="l">
                        <a:lnSpc>
                          <a:spcPts val="2240"/>
                        </a:lnSpc>
                      </a:pPr>
                      <a:r>
                        <a:rPr lang="en-US" sz="16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</a:t>
                      </a:r>
                      <a:r>
                        <a:rPr lang="en-US" sz="16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 Diseña una lista de chequeo (checklist) de auditoría CAD para verificar la integridad geométrica de los modelos antes de exportarlos a DWG y presentarlos a revisión.</a:t>
                      </a:r>
                    </a:p>
                    <a:p>
                      <a:pPr algn="l">
                        <a:lnSpc>
                          <a:spcPts val="2240"/>
                        </a:lnSpc>
                      </a:pPr>
                      <a:r>
                        <a:rPr lang="en-US" sz="16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 </a:t>
                      </a:r>
                    </a:p>
                    <a:p>
                      <a:pPr algn="l">
                        <a:lnSpc>
                          <a:spcPts val="2240"/>
                        </a:lnSpc>
                      </a:pPr>
                      <a:r>
                        <a:rPr lang="en-US" sz="16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 **[RESULTADO ESPERADO]:**</a:t>
                      </a:r>
                    </a:p>
                    <a:p>
                      <a:pPr algn="l">
                        <a:lnSpc>
                          <a:spcPts val="2240"/>
                        </a:lnSpc>
                      </a:pPr>
                      <a:r>
                        <a:rPr lang="en-US" sz="16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 Un protocolo de control de calidad paso a paso que incluya los comandos de comprobación nativos de AutoCAD (como SOLIDCHECK, INTERFERE, MASSPROP, CHECK) y el criterio de aceptación/rechazo para cada uno.</a:t>
                      </a:r>
                    </a:p>
                    <a:p>
                      <a:pPr algn="l">
                        <a:lnSpc>
                          <a:spcPts val="2240"/>
                        </a:lnSpc>
                      </a:pPr>
                      <a:r>
                        <a:rPr lang="en-US" sz="16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 </a:t>
                      </a:r>
                    </a:p>
                    <a:p>
                      <a:pPr algn="l">
                        <a:lnSpc>
                          <a:spcPts val="2240"/>
                        </a:lnSpc>
                      </a:pPr>
                      <a:r>
                        <a:rPr lang="en-US" sz="16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 **[RESTRICCIONES]:**</a:t>
                      </a:r>
                    </a:p>
                    <a:p>
                      <a:pPr algn="l">
                        <a:lnSpc>
                          <a:spcPts val="2240"/>
                        </a:lnSpc>
                      </a:pPr>
                      <a:r>
                        <a:rPr lang="en-US" sz="16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 - No incluyas recomendaciones genéricas de dibujo 2D (enfócate estrictamente en sólidos 3D).</a:t>
                      </a:r>
                    </a:p>
                    <a:p>
                      <a:pPr algn="l">
                        <a:lnSpc>
                          <a:spcPts val="2240"/>
                        </a:lnSpc>
                      </a:pPr>
                      <a:r>
                        <a:rPr lang="en-US" sz="16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&gt; - Explica qué valor específico debe devolver cada comando para considerarse 'Aprobado sin errores'."</a:t>
                      </a:r>
                    </a:p>
                    <a:p>
                      <a:pPr algn="l">
                        <a:lnSpc>
                          <a:spcPts val="224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</a:tr>
            </a:tbl>
          </a:graphicData>
        </a:graphic>
      </p:graphicFrame>
      <p:grpSp>
        <p:nvGrpSpPr>
          <p:cNvPr name="Group 4" id="4"/>
          <p:cNvGrpSpPr/>
          <p:nvPr/>
        </p:nvGrpSpPr>
        <p:grpSpPr>
          <a:xfrm rot="0">
            <a:off x="12446262" y="1389663"/>
            <a:ext cx="5104516" cy="7006088"/>
            <a:chOff x="0" y="0"/>
            <a:chExt cx="4622800" cy="63449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87630" y="67310"/>
              <a:ext cx="4427220" cy="6209030"/>
            </a:xfrm>
            <a:custGeom>
              <a:avLst/>
              <a:gdLst/>
              <a:ahLst/>
              <a:cxnLst/>
              <a:rect r="r" b="b" t="t" l="l"/>
              <a:pathLst>
                <a:path h="6209030" w="4427220">
                  <a:moveTo>
                    <a:pt x="4427220" y="0"/>
                  </a:moveTo>
                  <a:lnTo>
                    <a:pt x="2518410" y="6209030"/>
                  </a:lnTo>
                  <a:lnTo>
                    <a:pt x="0" y="6209030"/>
                  </a:lnTo>
                  <a:lnTo>
                    <a:pt x="1940560" y="3810"/>
                  </a:lnTo>
                  <a:lnTo>
                    <a:pt x="4427220" y="1270"/>
                  </a:lnTo>
                  <a:close/>
                </a:path>
              </a:pathLst>
            </a:custGeom>
            <a:blipFill>
              <a:blip r:embed="rId3"/>
              <a:stretch>
                <a:fillRect l="-55088" t="0" r="-55088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24070" cy="6344920"/>
            </a:xfrm>
            <a:custGeom>
              <a:avLst/>
              <a:gdLst/>
              <a:ahLst/>
              <a:cxnLst/>
              <a:rect r="r" b="b" t="t" l="l"/>
              <a:pathLst>
                <a:path h="6344920" w="4624070">
                  <a:moveTo>
                    <a:pt x="4622800" y="0"/>
                  </a:moveTo>
                  <a:lnTo>
                    <a:pt x="2653030" y="6344920"/>
                  </a:lnTo>
                  <a:lnTo>
                    <a:pt x="0" y="6344920"/>
                  </a:lnTo>
                  <a:lnTo>
                    <a:pt x="1969770" y="0"/>
                  </a:lnTo>
                  <a:lnTo>
                    <a:pt x="4624070" y="0"/>
                  </a:lnTo>
                  <a:close/>
                  <a:moveTo>
                    <a:pt x="2560320" y="6217920"/>
                  </a:moveTo>
                  <a:lnTo>
                    <a:pt x="4451350" y="127000"/>
                  </a:lnTo>
                  <a:lnTo>
                    <a:pt x="2063750" y="127000"/>
                  </a:lnTo>
                  <a:lnTo>
                    <a:pt x="172720" y="6217920"/>
                  </a:lnTo>
                  <a:lnTo>
                    <a:pt x="2560320" y="6217920"/>
                  </a:lnTo>
                  <a:close/>
                </a:path>
              </a:pathLst>
            </a:custGeom>
            <a:solidFill>
              <a:srgbClr val="FF3131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2290191" y="392261"/>
            <a:ext cx="7497217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</a:t>
            </a:r>
            <a:r>
              <a:rPr lang="en-US" b="true" sz="27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anco de Prompts con Distintas Estructuras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86220" y="1096452"/>
            <a:ext cx="11062283" cy="1532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Estructura E: </a:t>
            </a: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Framework CARE (Contexto - Acción - Resultado - Ejemplo/Restricciones)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Objetivo: </a:t>
            </a: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Enfocado en la auditoría de calidad y validación de sólidos herméticos (watertight / manifold) para entrega académica.</a:t>
            </a:r>
          </a:p>
          <a:p>
            <a:pPr algn="l">
              <a:lnSpc>
                <a:spcPts val="35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aphicFrame>
        <p:nvGraphicFramePr>
          <p:cNvPr name="Object 3" id="3"/>
          <p:cNvGraphicFramePr/>
          <p:nvPr/>
        </p:nvGraphicFramePr>
        <p:xfrm>
          <a:off x="9015684" y="1910771"/>
          <a:ext cx="8260773" cy="8229600"/>
        </p:xfrm>
        <a:graphic>
          <a:graphicData uri="http://schemas.openxmlformats.org/presentationml/2006/ole">
            <p:oleObj imgW="9906000" imgH="98679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462174" y="415289"/>
            <a:ext cx="7884616" cy="613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Análisis de IA: Gratuita vs. De Paga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7885" y="1554411"/>
            <a:ext cx="7272708" cy="174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Para realizar la elección de modelos de inteligencia artificial, hemos decididos utilizar los datos de artificial analysis sobre la inteligencia, precio y velocidad.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7885" y="3990906"/>
            <a:ext cx="7272708" cy="3749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 inteligencia se mide por el “Artificial Analysis Intelligence Index” que es una suite de evaluación integral que sintetiza y compara la inteligencia de modelos de lenguaje en razonamiento, conocimiento, matemáticas y programación, donde combina diez pruebas basadas en texto en inglés y aplicabilidad práctica, logrando un intervalo de confianza estadística estimado inferior al uno por ciento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02826" y="1146741"/>
            <a:ext cx="6799362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Tabla comparativa sobre los modelos IA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aphicFrame>
        <p:nvGraphicFramePr>
          <p:cNvPr name="Object 3" id="3"/>
          <p:cNvGraphicFramePr/>
          <p:nvPr/>
        </p:nvGraphicFramePr>
        <p:xfrm>
          <a:off x="3241273" y="1028700"/>
          <a:ext cx="8442015" cy="8229600"/>
        </p:xfrm>
        <a:graphic>
          <a:graphicData uri="http://schemas.openxmlformats.org/presentationml/2006/ole">
            <p:oleObj imgW="10134600" imgH="99060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3392760" y="306429"/>
            <a:ext cx="11502479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Tabla comparativa con puntajes normalizados sobre los modelos AI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6421" y="1189624"/>
            <a:ext cx="17475157" cy="5844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</a:p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[1] Anthropic, «Introducing the Model Context Protocol», Anthropic News, 25 de noviembre de 2024. [En línea]. Disponible en: https://www.anthropic.com/news/model-context-protocol </a:t>
            </a:r>
          </a:p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[2] Model Context Protocol, «Architecture Overview - What is the Model Context Protocol (MCP)?», MCP Specification Documentation, 2024. [En línea]. Disponible en: https://modelcontextprotocol.io/docs/learn/architecture </a:t>
            </a:r>
          </a:p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[3] P. Krill, «Anthropic introduces the Model Context Protocol», InfoWorld, 26 de noviembre de 2024. [En línea]. Disponible en: https://www.infoworld.com/article/3613143/anthropic-introduces-the-model-context-protocol.html </a:t>
            </a:r>
          </a:p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[4] Daobataotie, «CAD-MCP: CAD MCP Server for AutoCAD, GstarCAD and ZWCAD», GitHub Repository, 2024. [En línea]. Disponible en: https://github.com/daobataotie/cad-mcp </a:t>
            </a:r>
          </a:p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[5] AnCode666, «multiCAD-mcp: Control CAD applications with AI assistants through MCP», GitHub Repository, 2025. [En línea]. Disponible en: https://github.com/AnCode666/multiCAD-mcp </a:t>
            </a:r>
          </a:p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[6] AutoCAD Automation, «AutoCAD Automation with Python», Read the Docs, 2024. [En línea]. Disponible en: https://autocad-automation.readthedocs.io/en/stable/ </a:t>
            </a:r>
          </a:p>
          <a:p>
            <a:pPr algn="l">
              <a:lnSpc>
                <a:spcPts val="3360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406421" y="563880"/>
            <a:ext cx="4895106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Referencias bajo Norma IEEE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357644" y="3576956"/>
            <a:ext cx="5004346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DAGTmMEQfi8</dc:identifier>
  <dcterms:modified xsi:type="dcterms:W3CDTF">2011-08-01T06:04:30Z</dcterms:modified>
  <cp:revision>1</cp:revision>
  <dc:title>Actividad_laboratorio_semana2</dc:title>
</cp:coreProperties>
</file>